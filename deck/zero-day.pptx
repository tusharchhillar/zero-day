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faculty. I'm presenting ZERO-DAY, our solution to SIH 2026 problem statement 26145 from NTRO: AI-Based Detection of Cyber Threats in Unidirectional IP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data diodes make monitoring highly secure, but the cost is no active interaction. That is the heart of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the problem even exist? Because unidirectional monitoring is very secure against being attacked, but you pay for it by not being able to interact.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layers working together. Layer 1 knows what attacks look like. Layer 2 knows what normal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1 is the speed layer. Example: SYN flood detector flags 150 SYN-only packets when the threshold is 100, citing 25 unique source IPs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2 is the intelligence layer. No attack labels, just a learned model of normal. Deviation = anomaly = possible zero-day.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differentiator. A rule-based system stops at yesterday's attacks. Our second layer flags tomorrow's. That is why AI is justified, not just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all six classes with both layers. Rules catch known variants; the model catches deviations on matching feature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trap question. We stay on the right side of the constraint by reading metadata, not content. Encryption can't hide statistical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measured numbers from our benchmark harness — not estimates. Rules are the speed layer, NJ-ODE the depth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constraint in the problem statement is satisfied by design, and we have the mechanisms to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answer on data. Owning the limitation builds trust — and frames the forward work. Never overclaim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modern, defensible stack: streaming backend, strict contracts, and a real dashboard a security analyst would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confidence. Expect questions on unidirectional reasoning, why AI over rules, encrypted traffic, and data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ZERO-DAY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22D3EE"/>
                </a:solidFill>
              </a:rPr>
              <a:t>Smart India Hackathon 2026  •  Problem Statement 26145  •  NTRO</a:t>
            </a:r>
          </a:p>
          <a:p>
            <a:pPr/>
            <a:r>
              <a:rPr sz="1300">
                <a:solidFill>
                  <a:srgbClr val="A7B4CC"/>
                </a:solidFill>
              </a:rPr>
              <a:t>Team ZERO-DAY  |  Dual-Layer Anomaly Detection  |  Read-Only Passive Defence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in 30 Seconds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E6EAF2"/>
                </a:solidFill>
              </a:rPr>
              <a:t>Power grids, banks &amp; nuclear plants use hardware DATA DIODES to copy traffic into a secured monitoring enclave.</a:t>
            </a:r>
          </a:p>
          <a:p>
            <a:pPr/>
            <a:r>
              <a:rPr sz="1500">
                <a:solidFill>
                  <a:srgbClr val="E6EAF2"/>
                </a:solidFill>
              </a:rPr>
              <a:t>Data flows ONE WAY only  →  the system can SEE everything, but can NEVER probe, re-contact, or block.</a:t>
            </a:r>
          </a:p>
          <a:p>
            <a:pPr/>
            <a:r>
              <a:rPr sz="1500" b="1">
                <a:solidFill>
                  <a:srgbClr val="22D3EE"/>
                </a:solidFill>
              </a:rPr>
              <a:t>This unidirectional blind spot is exactly where attackers hide.</a:t>
            </a:r>
          </a:p>
          <a:p>
            <a:pPr/>
            <a:r>
              <a:rPr sz="1500" b="1">
                <a:solidFill>
                  <a:srgbClr val="FFFFFF"/>
                </a:solidFill>
              </a:rPr>
              <a:t>The challenge: detect 6 classes of cyber threat using PURELY PASSIVE observation.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Unidirectional?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212080" cy="310896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E6EAF2"/>
                </a:solidFill>
              </a:rPr>
              <a:t>✓  Air-Gap Security</a:t>
            </a:r>
          </a:p>
          <a:p/>
          <a:p>
            <a:r>
              <a:t>No return path = attackers on the internet can't reach the monitor.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212080" cy="310896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22D3EE"/>
                </a:solidFill>
              </a:rPr>
              <a:t>✗  The Trade-off</a:t>
            </a:r>
          </a:p>
          <a:p/>
          <a:p>
            <a:r>
              <a:t>We lose the ability to respond, probe, or confirm — detection must be passive.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5212080"/>
            <a:ext cx="5943600" cy="91440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The data diode is a one-way mirror: total visibility, zero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Dual-Layer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1417320"/>
            <a:ext cx="3200400" cy="777240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6202A"/>
                </a:solidFill>
              </a:rPr>
              <a:t>PASSIVE INGEST (read-only)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394960" y="2377440"/>
            <a:ext cx="1371600" cy="457200"/>
          </a:xfrm>
          <a:prstGeom prst="rightArrow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4846320" cy="146304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LAYER 1  •  RULE-BASED</a:t>
            </a:r>
          </a:p>
          <a:p>
            <a:r>
              <a:t>6 detectors • 40K evt/s • explainable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4846320" cy="146304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LAYER 2  •  NJ-ODE</a:t>
            </a:r>
          </a:p>
          <a:p>
            <a:r>
              <a:t>unsupervised • zero-day • channel attribution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94960" y="4709160"/>
            <a:ext cx="1371600" cy="45720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5394960"/>
            <a:ext cx="5486400" cy="82296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ALERT ENGINE   →   SOC Dashboard (FastAPI + WebSocket)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1 — Rule-Based Detectors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AF2"/>
                </a:solidFill>
              </a:rPr>
              <a:t>Six detectors on a common interface — DDoS, C2 Beacon, DGA, DNS Tunnel, Port Scan, Exfiltration.</a:t>
            </a:r>
          </a:p>
          <a:p>
            <a:pPr/>
            <a:r>
              <a:rPr sz="1400">
                <a:solidFill>
                  <a:srgbClr val="E6EAF2"/>
                </a:solidFill>
              </a:rPr>
              <a:t>Streaming: each FlowEvent processed one-at-a-time with bounded rolling-window state.</a:t>
            </a:r>
          </a:p>
          <a:p>
            <a:pPr/>
            <a:r>
              <a:rPr sz="1400">
                <a:solidFill>
                  <a:srgbClr val="E6EAF2"/>
                </a:solidFill>
              </a:rPr>
              <a:t>Every alert carries evidence — WHAT (threat class), HOW confident, and WHY (feature + reason).</a:t>
            </a:r>
          </a:p>
          <a:p>
            <a:pPr/>
            <a:r>
              <a:rPr sz="1500" b="1">
                <a:solidFill>
                  <a:srgbClr val="22D3EE"/>
                </a:solidFill>
              </a:rPr>
              <a:t>Fast &amp; explainable: 40,202 events/sec, under 1 ms per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2 — Neural Jump 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AF2"/>
                </a:solidFill>
              </a:rPr>
              <a:t>Unsupervised anomaly detection — trains on BENIGN traffic only, no labels needed.</a:t>
            </a:r>
          </a:p>
          <a:p>
            <a:pPr/>
            <a:r>
              <a:rPr sz="1400">
                <a:solidFill>
                  <a:srgbClr val="E6EAF2"/>
                </a:solidFill>
              </a:rPr>
              <a:t>Learns the continuous-time expectation of normal traffic (Herrera, Krach &amp; Teichmann — ICLR 2021).</a:t>
            </a:r>
          </a:p>
          <a:p>
            <a:pPr/>
            <a:r>
              <a:rPr sz="1400">
                <a:solidFill>
                  <a:srgbClr val="E6EAF2"/>
                </a:solidFill>
              </a:rPr>
              <a:t>Anomaly score = prediction error between expected and observed behaviour.</a:t>
            </a:r>
          </a:p>
          <a:p>
            <a:pPr/>
            <a:r>
              <a:rPr sz="1400" b="1">
                <a:solidFill>
                  <a:srgbClr val="22D3EE"/>
                </a:solidFill>
              </a:rPr>
              <a:t>CHANNEL ATTRIBUTION tells analysts which feature broke (IAT, bytes, entropy, burst, direction) → maps to a threat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X-Factor: Zero-Day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029200" cy="310896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7C3AED"/>
                </a:solidFill>
              </a:rPr>
              <a:t>RULES know what ATTACKS look like.</a:t>
            </a:r>
          </a:p>
          <a:p/>
          <a:p>
            <a:r>
              <a:t>Catch what you've already seen.</a:t>
            </a:r>
          </a:p>
          <a:p>
            <a:r>
              <a:t>Miss everything you haven't.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6035040" y="3017520"/>
            <a:ext cx="1097280" cy="548640"/>
          </a:xfrm>
          <a:prstGeom prst="rightArrow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06640" y="1737360"/>
            <a:ext cx="4480560" cy="310896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NJ-ODE knows what NORMAL looks like.</a:t>
            </a:r>
          </a:p>
          <a:p/>
          <a:p>
            <a:r>
              <a:t>Anything that isn't normal gets flagged — even attacks never seen before.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5303520"/>
            <a:ext cx="5943600" cy="914400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6202A"/>
                </a:solidFill>
              </a:rPr>
              <a:t>This is the whole point of AI-based detection: defence against the unknown.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Coverage — SIH 26145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AF2"/>
                </a:solidFill>
              </a:rPr>
              <a:t>Volumetric / Protocol DDoS — SYN flood + UDP amplification.</a:t>
            </a:r>
          </a:p>
          <a:p>
            <a:pPr/>
            <a:r>
              <a:rPr sz="1400">
                <a:solidFill>
                  <a:srgbClr val="E6EAF2"/>
                </a:solidFill>
              </a:rPr>
              <a:t>Botnet C2 Beaconing — periodic callbacks, detected by IAT periodicity.</a:t>
            </a:r>
          </a:p>
          <a:p>
            <a:pPr/>
            <a:r>
              <a:rPr sz="1400">
                <a:solidFill>
                  <a:srgbClr val="E6EAF2"/>
                </a:solidFill>
              </a:rPr>
              <a:t>DGA Domains — malware generating random domain names via entropy scoring.</a:t>
            </a:r>
          </a:p>
          <a:p>
            <a:pPr/>
            <a:r>
              <a:rPr sz="1400">
                <a:solidFill>
                  <a:srgbClr val="E6EAF2"/>
                </a:solidFill>
              </a:rPr>
              <a:t>DNS Tunnelling — data hidden inside DNS queries (length + record-type anomalies).</a:t>
            </a:r>
          </a:p>
          <a:p>
            <a:pPr/>
            <a:r>
              <a:rPr sz="1400">
                <a:solidFill>
                  <a:srgbClr val="E6EAF2"/>
                </a:solidFill>
              </a:rPr>
              <a:t>Encrypted-Session Malware — TLS metadata behavior, NO decryption.</a:t>
            </a:r>
          </a:p>
          <a:p>
            <a:pPr/>
            <a:r>
              <a:rPr sz="1400" b="1">
                <a:solidFill>
                  <a:srgbClr val="FFFFFF"/>
                </a:solidFill>
              </a:rPr>
              <a:t>Reconnaissance / Port Scan &amp; Data Exfiltration — fan-out + volumetric asymmetry.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Encrypted-Traffic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 b="1">
                <a:solidFill>
                  <a:srgbClr val="E6EAF2"/>
                </a:solidFill>
              </a:rPr>
              <a:t>Hard constraint: TLS/QUIC payloads are never decrypted.</a:t>
            </a:r>
          </a:p>
          <a:p>
            <a:pPr/>
            <a:r>
              <a:rPr sz="1400">
                <a:solidFill>
                  <a:srgbClr val="E6EAF2"/>
                </a:solidFill>
              </a:rPr>
              <a:t>Instead, we analyze TLS METADATA: packet-size coefficient of variation, timing variation, JA3/JA4 fingerprints.</a:t>
            </a:r>
          </a:p>
          <a:p>
            <a:pPr/>
            <a:r>
              <a:rPr sz="1500" b="1">
                <a:solidFill>
                  <a:srgbClr val="22D3EE"/>
                </a:solidFill>
              </a:rPr>
              <a:t>Malicious sessions have a different statistical rhythm than benign ones — even when encrypted.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22D3EE"/>
                </a:solidFill>
              </a:rPr>
              <a:t>40,202  evt/s</a:t>
            </a:r>
          </a:p>
          <a:p>
            <a:r>
              <a:t>RULES-ONLY • &lt; 1 ms per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737360"/>
            <a:ext cx="5120640" cy="201168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7C3AED"/>
                </a:solidFill>
              </a:rPr>
              <a:t>70  evt/s</a:t>
            </a:r>
          </a:p>
          <a:p>
            <a:r>
              <a:t>RULES + NJ-ODE • ~14 ms per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182880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E6EAF2"/>
                </a:solidFill>
              </a:rPr>
              <a:t>26 / 26  TESTS PASSING</a:t>
            </a:r>
          </a:p>
          <a:p>
            <a:r>
              <a:t>Streaming, not batch — bounded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5120640" cy="1828800"/>
          </a:xfrm>
          <a:prstGeom prst="round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E6EAF2"/>
                </a:solidFill>
              </a:rPr>
              <a:t>96 WINDOWS • ~5s TRAIN</a:t>
            </a:r>
          </a:p>
          <a:p>
            <a:r>
              <a:t>NJ-ODE training in 60 epochs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Properties &amp; PS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AF2"/>
                </a:solidFill>
              </a:rPr>
              <a:t>Read-only ingest — no probes, no return path, no inline blocking.</a:t>
            </a:r>
          </a:p>
          <a:p>
            <a:pPr/>
            <a:r>
              <a:rPr sz="1400">
                <a:solidFill>
                  <a:srgbClr val="E6EAF2"/>
                </a:solidFill>
              </a:rPr>
              <a:t>No payload decryption — TLS/QUIC metadata only.</a:t>
            </a:r>
          </a:p>
          <a:p>
            <a:pPr/>
            <a:r>
              <a:rPr sz="1400">
                <a:solidFill>
                  <a:srgbClr val="E6EAF2"/>
                </a:solidFill>
              </a:rPr>
              <a:t>Air-gap compatible — requires no return path.</a:t>
            </a:r>
          </a:p>
          <a:p>
            <a:pPr/>
            <a:r>
              <a:rPr sz="1400">
                <a:solidFill>
                  <a:srgbClr val="E6EAF2"/>
                </a:solidFill>
              </a:rPr>
              <a:t>Evidence chain — every alert carries cited feature values.</a:t>
            </a:r>
          </a:p>
          <a:p>
            <a:pPr/>
            <a:r>
              <a:rPr sz="1400">
                <a:solidFill>
                  <a:srgbClr val="22D3EE"/>
                </a:solidFill>
              </a:rPr>
              <a:t>Bounded state &amp; thread-safe engine — deque pruning + cooldowns + N-of-M hysteresis → no alert storms.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Honest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AF2"/>
                </a:solidFill>
              </a:rPr>
              <a:t>Current: synthetic-vs-synthetic evaluation — 100% detection rate across all 6 attack scenarios.</a:t>
            </a:r>
          </a:p>
          <a:p>
            <a:pPr/>
            <a:r>
              <a:rPr sz="1500" b="1">
                <a:solidFill>
                  <a:srgbClr val="22D3EE"/>
                </a:solidFill>
              </a:rPr>
              <a:t>On real data, we're clear: production validation needs CIC-IDS2017 / CSE-CIC-IDS2018.</a:t>
            </a:r>
          </a:p>
          <a:p>
            <a:pPr/>
            <a:r>
              <a:rPr sz="1400">
                <a:solidFill>
                  <a:srgbClr val="E6EAF2"/>
                </a:solidFill>
              </a:rPr>
              <a:t>That real-dataset validation is our clearly-scoped next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AF2"/>
                </a:solidFill>
              </a:rPr>
              <a:t>Python 3.11+  •  PyTorch 2.0+  •  NJ-ODE (continuous-time anomaly model)</a:t>
            </a:r>
          </a:p>
          <a:p>
            <a:pPr/>
            <a:r>
              <a:rPr sz="1400">
                <a:solidFill>
                  <a:srgbClr val="E6EAF2"/>
                </a:solidFill>
              </a:rPr>
              <a:t>Pydantic v2 — strict alert schema with evidence chain</a:t>
            </a:r>
          </a:p>
          <a:p>
            <a:pPr/>
            <a:r>
              <a:rPr sz="1400">
                <a:solidFill>
                  <a:srgbClr val="E6EAF2"/>
                </a:solidFill>
              </a:rPr>
              <a:t>FastAPI + WebSocket — real-time API and alert streaming</a:t>
            </a:r>
          </a:p>
          <a:p>
            <a:pPr/>
            <a:r>
              <a:rPr sz="1400">
                <a:solidFill>
                  <a:srgbClr val="E6EAF2"/>
                </a:solidFill>
              </a:rPr>
              <a:t>React + TypeScript — SOC-style operations dashboard</a:t>
            </a:r>
          </a:p>
          <a:p>
            <a:pPr/>
            <a:r>
              <a:rPr sz="1400">
                <a:solidFill>
                  <a:srgbClr val="22D3EE"/>
                </a:solidFill>
              </a:rPr>
              <a:t>pytest — 26 passing tests guarding the detection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ZERO-DAY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A7B4CC"/>
                </a:solidFill>
              </a:rPr>
              <a:t>Team ZERO-DAY  •  SIH 2026  •  PS 26145 (NTRO)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41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4206240"/>
            <a:ext cx="3017520" cy="109728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